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2" r:id="rId3"/>
    <p:sldId id="257" r:id="rId4"/>
    <p:sldId id="258" r:id="rId5"/>
    <p:sldId id="259" r:id="rId6"/>
    <p:sldId id="285" r:id="rId7"/>
    <p:sldId id="286" r:id="rId8"/>
    <p:sldId id="284" r:id="rId9"/>
    <p:sldId id="283" r:id="rId10"/>
    <p:sldId id="289" r:id="rId11"/>
    <p:sldId id="290" r:id="rId12"/>
    <p:sldId id="287" r:id="rId13"/>
    <p:sldId id="28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C4CCEAE6-6F8C-46EE-97BD-E9B02B5358CC}">
          <p14:sldIdLst/>
        </p14:section>
        <p14:section name="无标题节" id="{97943AAD-30DD-4919-AE33-6E8CEAD6ADD1}">
          <p14:sldIdLst>
            <p14:sldId id="256"/>
            <p14:sldId id="282"/>
            <p14:sldId id="257"/>
            <p14:sldId id="258"/>
            <p14:sldId id="259"/>
            <p14:sldId id="285"/>
            <p14:sldId id="286"/>
            <p14:sldId id="284"/>
            <p14:sldId id="283"/>
            <p14:sldId id="289"/>
            <p14:sldId id="290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 autoAdjust="0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05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038B4-4AEE-0D69-AC78-5A27C18A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6ECE5-4E7C-380F-B19B-F9068AD87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018BC-66F9-B20F-96F7-CAA71F82C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71D93-675C-327D-1911-CFAE9937C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00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23BA-DC12-ABF7-3BF7-05A8C726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BEFA3-9E6E-8F73-6A19-D5DD536CC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4868E-906A-6CAE-36E6-D77FDA521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39A1D-BFC5-4DE0-0A81-F05BBC1B7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8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15F5-F117-4856-6DC3-F4DCAF3A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41618-57F1-3579-F2E3-9BAE406C1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8C44B-4283-94C0-AE03-EB3A1FFC6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11152-A9C0-D6E8-1D6B-D18D5D1AFD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02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BED9-ABDA-97D5-F8FF-84E5B07E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F4703-F0FE-588E-99D1-8A0E71906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E1A05-E5A3-6F3A-28FE-97561D627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A6E7F-2963-3B21-84EA-150A1E1FD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8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A479-A7F8-7704-FA0B-5177E260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9A886-D0FE-3CDC-F1D2-325142DCA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B7E32-49BB-BA0F-28D1-DDF1DEB7C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2FFCA-936A-2425-2E00-6C1B9579B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4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6885-BAB8-41E1-47B6-934BF845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99CB5-F564-4D6C-8951-ECA0D15AD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62E6-7E54-EF2D-C8B4-13A5CB9B3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E1CBF-7618-7C1A-169A-DE5B6B03E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53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E941-B22A-4FBB-5FAC-EE06F08B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48310-F624-506D-6C64-9C2542A65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B6365-E47E-B244-E789-4BCA7E7C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9F8BE-9628-CE60-A7CE-CEC376909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1DEC-0F9C-469C-C322-5E47995B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AF709-9037-E75E-2963-51710752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BBC3D-1816-A707-40F6-D8AB0B75B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705F1-4E04-7B72-4057-ED35C2D01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9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C64B-6E1F-F170-2050-86EFE82C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B2CA0-E42A-4706-467B-532EF4525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7E5D0-B182-963C-089B-8410F1635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411CD-5E4A-57CB-A51A-4FEB8EFD7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119" y="1284570"/>
            <a:ext cx="3884182" cy="16642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60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仲恺农业工程学院</a:t>
            </a:r>
            <a:br>
              <a:rPr lang="zh-CN" altLang="en-US" sz="160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</a:br>
            <a:r>
              <a:rPr lang="zh-CN" altLang="en-US" sz="160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毕业论文答辩会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777119" y="2917098"/>
            <a:ext cx="5073994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>
              <a:lnSpc>
                <a:spcPct val="112500"/>
              </a:lnSpc>
              <a:spcBef>
                <a:spcPts val="375"/>
              </a:spcBef>
            </a:pPr>
            <a:r>
              <a:rPr lang="zh-CN" altLang="en-US" sz="1600" dirty="0">
                <a:solidFill>
                  <a:schemeClr val="accent1"/>
                </a:solidFill>
                <a:ea typeface="黑体" panose="02010609060101010101" pitchFamily="49" charset="-122"/>
              </a:rPr>
              <a:t>热烈欢迎各位专家和老师莅临指导！</a:t>
            </a:r>
          </a:p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90D12-4633-A7D8-2A75-7A8E1757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F04D6-76CC-6E63-AA16-3CE5C007430B}"/>
              </a:ext>
            </a:extLst>
          </p:cNvPr>
          <p:cNvSpPr/>
          <p:nvPr/>
        </p:nvSpPr>
        <p:spPr>
          <a:xfrm>
            <a:off x="662442" y="1014631"/>
            <a:ext cx="7819116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基于单片机和步进电机的智能时钟系统研制</a:t>
            </a:r>
            <a:endParaRPr lang="en-US" sz="144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ED3851-298B-3D74-9F89-C58DCAFCF6BD}"/>
              </a:ext>
            </a:extLst>
          </p:cNvPr>
          <p:cNvSpPr txBox="1"/>
          <p:nvPr/>
        </p:nvSpPr>
        <p:spPr>
          <a:xfrm>
            <a:off x="1031488" y="2023946"/>
            <a:ext cx="4148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答辩人：呙凯锋</a:t>
            </a:r>
            <a:endParaRPr lang="en-US" altLang="zh-CN" dirty="0"/>
          </a:p>
          <a:p>
            <a:r>
              <a:rPr lang="zh-CN" altLang="en-US" dirty="0"/>
              <a:t>指导老师：黄伟锋</a:t>
            </a:r>
            <a:endParaRPr lang="en-US" altLang="zh-CN" dirty="0"/>
          </a:p>
          <a:p>
            <a:r>
              <a:rPr lang="zh-CN" altLang="en-US" dirty="0"/>
              <a:t>专业班级：自动化</a:t>
            </a:r>
            <a:r>
              <a:rPr lang="en-US" altLang="zh-CN" dirty="0"/>
              <a:t>214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149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7223" y="289388"/>
            <a:ext cx="99648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20202" y="1714390"/>
            <a:ext cx="323697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72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r>
              <a:rPr lang="en-US" sz="1728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</a:t>
            </a:r>
            <a:r>
              <a:rPr lang="zh-CN" altLang="en-US" sz="172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958850" y="166867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334968" y="1714390"/>
            <a:ext cx="3236855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72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系统方案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773616" y="166867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520354" y="2342888"/>
            <a:ext cx="323697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altLang="zh-CN" sz="1728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硬件设计与选型</a:t>
            </a:r>
            <a:endParaRPr lang="en-US" altLang="zh-CN" sz="1440" dirty="0"/>
          </a:p>
        </p:txBody>
      </p:sp>
      <p:sp>
        <p:nvSpPr>
          <p:cNvPr id="8" name="Text 6"/>
          <p:cNvSpPr/>
          <p:nvPr/>
        </p:nvSpPr>
        <p:spPr>
          <a:xfrm>
            <a:off x="959003" y="2297168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334846" y="2342888"/>
            <a:ext cx="323697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72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软件实现与功能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773495" y="2297168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520281" y="2971386"/>
            <a:ext cx="323697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altLang="zh-CN" sz="1728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电路设计及测试</a:t>
            </a:r>
            <a:endParaRPr lang="en-US" altLang="zh-CN" sz="1440" dirty="0"/>
          </a:p>
        </p:txBody>
      </p:sp>
      <p:sp>
        <p:nvSpPr>
          <p:cNvPr id="12" name="Text 10"/>
          <p:cNvSpPr/>
          <p:nvPr/>
        </p:nvSpPr>
        <p:spPr>
          <a:xfrm>
            <a:off x="958930" y="2925666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5CAFFA9-4881-B0F6-FF70-ED6DD74F903E}"/>
              </a:ext>
            </a:extLst>
          </p:cNvPr>
          <p:cNvSpPr/>
          <p:nvPr/>
        </p:nvSpPr>
        <p:spPr>
          <a:xfrm>
            <a:off x="5334773" y="2945978"/>
            <a:ext cx="323697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44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ACEA22F-599F-C356-20F8-5AF2C67D9B4C}"/>
              </a:ext>
            </a:extLst>
          </p:cNvPr>
          <p:cNvSpPr/>
          <p:nvPr/>
        </p:nvSpPr>
        <p:spPr>
          <a:xfrm>
            <a:off x="4773422" y="2900258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807" y="220599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</p:sp>
      <p:sp>
        <p:nvSpPr>
          <p:cNvPr id="3" name="Text 1"/>
          <p:cNvSpPr/>
          <p:nvPr/>
        </p:nvSpPr>
        <p:spPr>
          <a:xfrm>
            <a:off x="640375" y="2205990"/>
            <a:ext cx="75940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536888" y="2205990"/>
            <a:ext cx="690569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 err="1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30057715-DD61-24DD-7B7F-B27C9F81C8CB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C040DD8-6238-13E7-ADF0-7465A2D0A680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F104E10-4F3E-1C92-CCDE-F2E8EC5BD9E3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r>
              <a:rPr lang="en-US" sz="1400" b="1" dirty="0" err="1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与意义</a:t>
            </a:r>
            <a:endParaRPr 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ED7E1A-2A88-665E-72EC-BF9FCFCFD889}"/>
              </a:ext>
            </a:extLst>
          </p:cNvPr>
          <p:cNvSpPr txBox="1"/>
          <p:nvPr/>
        </p:nvSpPr>
        <p:spPr>
          <a:xfrm>
            <a:off x="312207" y="878840"/>
            <a:ext cx="3783437" cy="372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项目背景：</a:t>
            </a:r>
            <a:endParaRPr lang="en-US" altLang="zh-CN" sz="1400" b="1" i="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、传统时钟功能单一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：仅能显示时间，缺乏闹钟提醒、环境监测等多样化功能，无法满足现代用户需求。</a:t>
            </a:r>
          </a:p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、交互方式有限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：缺乏智能化的语音交互功能，用户体验欠佳。</a:t>
            </a:r>
          </a:p>
          <a:p>
            <a:pPr algn="l" fontAlgn="base">
              <a:lnSpc>
                <a:spcPct val="150000"/>
              </a:lnSpc>
              <a:spcAft>
                <a:spcPts val="1200"/>
              </a:spcAft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、无法联网获取信息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：无法获取实时信息，如天气预报、新闻等，无法满足用户对信息获取的需求。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fontAlgn="base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1000" dirty="0">
              <a:latin typeface="inheri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58D90E-3E80-1032-4B4F-3468EBC4A015}"/>
              </a:ext>
            </a:extLst>
          </p:cNvPr>
          <p:cNvSpPr txBox="1"/>
          <p:nvPr/>
        </p:nvSpPr>
        <p:spPr>
          <a:xfrm>
            <a:off x="4095644" y="888577"/>
            <a:ext cx="4918600" cy="362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项目意义：</a:t>
            </a:r>
            <a:endParaRPr lang="en-US" altLang="zh-CN" sz="1400" b="1" i="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、功能优化与创新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：增加语音交互、蓝牙连接等智能化功能，提升产品竞争力，满足市场需求。采用先进的微控制器和传感器技术，提高集成度，降低生产成本和功耗。</a:t>
            </a:r>
          </a:p>
          <a:p>
            <a:pPr algn="l" fontAlgn="base">
              <a:lnSpc>
                <a:spcPct val="150000"/>
              </a:lnSpc>
              <a:spcAft>
                <a:spcPts val="900"/>
              </a:spcAft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、提升用户体验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：通过模块化设计和自然交互方式，使智能时钟操作更加便捷，提升用户体验。优化用户界面和交互设计，简化操作流程，提高设备的易用性和用户满意度。</a:t>
            </a:r>
          </a:p>
          <a:p>
            <a:pPr algn="l" fontAlgn="base">
              <a:lnSpc>
                <a:spcPct val="150000"/>
              </a:lnSpc>
            </a:pPr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、推动行业发展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：为智能时钟行业的发展提供参考和借鉴，推动智能时钟技术的创新和应用。促进智能家居行业的发展，为用户提供更加丰富的智能生活体验。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C3B0C-13FF-3CF5-EB1E-03FABAB8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0A6895-EDF9-7249-115A-9B8887C8B552}"/>
              </a:ext>
            </a:extLst>
          </p:cNvPr>
          <p:cNvSpPr/>
          <p:nvPr/>
        </p:nvSpPr>
        <p:spPr>
          <a:xfrm>
            <a:off x="667807" y="220599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7B8A48-CB6B-D5FC-BEFF-F9F42510AFAE}"/>
              </a:ext>
            </a:extLst>
          </p:cNvPr>
          <p:cNvSpPr/>
          <p:nvPr/>
        </p:nvSpPr>
        <p:spPr>
          <a:xfrm>
            <a:off x="640375" y="2205990"/>
            <a:ext cx="75940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70BA61-143B-070B-C0D8-A812B88B51FC}"/>
              </a:ext>
            </a:extLst>
          </p:cNvPr>
          <p:cNvSpPr/>
          <p:nvPr/>
        </p:nvSpPr>
        <p:spPr>
          <a:xfrm>
            <a:off x="1536888" y="2205990"/>
            <a:ext cx="690569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系统方案</a:t>
            </a:r>
            <a:endParaRPr lang="en-US" altLang="zh-CN" sz="2880" b="1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570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78EDA-01D5-B544-0AFD-22A1874E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4F13DCA1-859B-9D92-A6F7-5878668E8D4B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500A861-440E-38FA-A424-E4E9544C1FFA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D0F80AD-B329-6D72-F11D-A1E267C28E7D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</a:rPr>
              <a:t>系统方案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0769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E8FEE-D400-0637-BEAE-1988C6C4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CE86CB-D373-341C-62BA-A9D09BD6C6F6}"/>
              </a:ext>
            </a:extLst>
          </p:cNvPr>
          <p:cNvSpPr/>
          <p:nvPr/>
        </p:nvSpPr>
        <p:spPr>
          <a:xfrm>
            <a:off x="667807" y="220599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A186EE-1C79-C40F-FD8B-C50F428BD5BE}"/>
              </a:ext>
            </a:extLst>
          </p:cNvPr>
          <p:cNvSpPr/>
          <p:nvPr/>
        </p:nvSpPr>
        <p:spPr>
          <a:xfrm>
            <a:off x="640375" y="2205990"/>
            <a:ext cx="75940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5BB6D1-F2EB-7513-5BB2-B7274239EC3D}"/>
              </a:ext>
            </a:extLst>
          </p:cNvPr>
          <p:cNvSpPr/>
          <p:nvPr/>
        </p:nvSpPr>
        <p:spPr>
          <a:xfrm>
            <a:off x="1536888" y="2205990"/>
            <a:ext cx="690569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硬件设计与选型</a:t>
            </a:r>
            <a:endParaRPr lang="en-US" sz="144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3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563E7-9B1E-355C-B08E-08F472A8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7C629311-E330-2FA3-0AAB-2A8507C5CE8F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9A53D46-7036-C9D0-DA21-422EE3220765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4E943EB-7FD8-5F0E-8919-B7E55A29F9BC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</a:rPr>
              <a:t>硬件选型</a:t>
            </a:r>
            <a:endParaRPr 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27D7BF-06C4-7855-DE11-5FF3778735D2}"/>
              </a:ext>
            </a:extLst>
          </p:cNvPr>
          <p:cNvSpPr txBox="1"/>
          <p:nvPr/>
        </p:nvSpPr>
        <p:spPr>
          <a:xfrm>
            <a:off x="193040" y="1010920"/>
            <a:ext cx="8757920" cy="3789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主控芯片：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STM32F103C8T6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开发资源丰富，拥有成熟的开发环境和丰富的库文件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步进电机：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28BJY-48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五线四相步进电机，内部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64:1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减速齿轮组，适配智能时钟指针显示需求，提供精准的时间显示。</a:t>
            </a:r>
          </a:p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语音助手芯片：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ESP32-S3-N16R8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拥有众多参考实例，便于快速开发和功能验证，降低开发难度</a:t>
            </a:r>
            <a:endParaRPr lang="en-US" altLang="zh-CN" b="1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电源管理芯片：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DC-DC + LDO 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LM2596S-5.0 +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LM1117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后备电源：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3V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纽扣电池</a:t>
            </a:r>
            <a:endParaRPr lang="en-US" altLang="zh-CN" b="1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显示：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OLED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闹钟：蜂鸣器模块</a:t>
            </a:r>
          </a:p>
        </p:txBody>
      </p:sp>
    </p:spTree>
    <p:extLst>
      <p:ext uri="{BB962C8B-B14F-4D97-AF65-F5344CB8AC3E}">
        <p14:creationId xmlns:p14="http://schemas.microsoft.com/office/powerpoint/2010/main" val="372249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8094F-B197-5BFE-EBDC-C19998D8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8E8BF2F5-3AE6-7FDD-AEA8-6DEC232A93A4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D75922B-DD42-8D98-8E0F-40DD0DD0D30B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F1CA7BC-8CE1-A6E3-CC9C-6907136CD8FA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</a:rPr>
              <a:t>硬件设计</a:t>
            </a:r>
            <a:endParaRPr 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35C6A6-5804-8A0B-EFF2-AF747C36D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33" y="981674"/>
            <a:ext cx="6779490" cy="40221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57FCB20-7318-FE8C-F445-9667CEEBDFBF}"/>
              </a:ext>
            </a:extLst>
          </p:cNvPr>
          <p:cNvSpPr txBox="1"/>
          <p:nvPr/>
        </p:nvSpPr>
        <p:spPr>
          <a:xfrm>
            <a:off x="2595417" y="637328"/>
            <a:ext cx="428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STM32F103C8T6</a:t>
            </a:r>
            <a:r>
              <a:rPr lang="zh-CN" altLang="en-US" dirty="0"/>
              <a:t>最小系统板</a:t>
            </a:r>
          </a:p>
        </p:txBody>
      </p:sp>
    </p:spTree>
    <p:extLst>
      <p:ext uri="{BB962C8B-B14F-4D97-AF65-F5344CB8AC3E}">
        <p14:creationId xmlns:p14="http://schemas.microsoft.com/office/powerpoint/2010/main" val="10748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F2BD6-B04B-6B4D-7F17-0401B30E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00064F6E-E369-CFA7-82C5-B3E207CB8447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30D6B036-A5A5-907D-E105-7D750557F2D9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309EF67-1948-9E58-843F-59C946149169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</a:rPr>
              <a:t>硬件设计</a:t>
            </a:r>
            <a:endParaRPr 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EE5452-6A4A-3ECF-52D5-EFAA293FB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65" y="876724"/>
            <a:ext cx="6830291" cy="40526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C3C3E3-A44F-1690-2897-D810DB666783}"/>
              </a:ext>
            </a:extLst>
          </p:cNvPr>
          <p:cNvSpPr txBox="1"/>
          <p:nvPr/>
        </p:nvSpPr>
        <p:spPr>
          <a:xfrm>
            <a:off x="1962727" y="540327"/>
            <a:ext cx="479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系统供电电路及电机驱动电路</a:t>
            </a:r>
          </a:p>
        </p:txBody>
      </p:sp>
    </p:spTree>
    <p:extLst>
      <p:ext uri="{BB962C8B-B14F-4D97-AF65-F5344CB8AC3E}">
        <p14:creationId xmlns:p14="http://schemas.microsoft.com/office/powerpoint/2010/main" val="400798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4D084-E17A-813A-B060-593A3436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72153E-7386-23C2-5E02-3A62AF4889E7}"/>
              </a:ext>
            </a:extLst>
          </p:cNvPr>
          <p:cNvSpPr/>
          <p:nvPr/>
        </p:nvSpPr>
        <p:spPr>
          <a:xfrm>
            <a:off x="667807" y="220599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21A969-EAFC-1D26-C80C-B88DBFB71A7D}"/>
              </a:ext>
            </a:extLst>
          </p:cNvPr>
          <p:cNvSpPr/>
          <p:nvPr/>
        </p:nvSpPr>
        <p:spPr>
          <a:xfrm>
            <a:off x="640375" y="2205990"/>
            <a:ext cx="75940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E4E538-F022-2136-D36F-0C61405EE6F6}"/>
              </a:ext>
            </a:extLst>
          </p:cNvPr>
          <p:cNvSpPr/>
          <p:nvPr/>
        </p:nvSpPr>
        <p:spPr>
          <a:xfrm>
            <a:off x="1536888" y="2205990"/>
            <a:ext cx="690569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软件设计与实现</a:t>
            </a:r>
            <a:endParaRPr lang="en-US" sz="144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0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52E09-CB4C-6B1B-950B-8C723C49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5E955D41-AA73-143A-5F01-2FEA7208AB66}"/>
              </a:ext>
            </a:extLst>
          </p:cNvPr>
          <p:cNvSpPr/>
          <p:nvPr/>
        </p:nvSpPr>
        <p:spPr>
          <a:xfrm>
            <a:off x="312207" y="449157"/>
            <a:ext cx="525993" cy="42714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91440" y="0"/>
                </a:moveTo>
                <a:moveTo>
                  <a:pt x="91440" y="0"/>
                </a:moveTo>
                <a:lnTo>
                  <a:pt x="640080" y="0"/>
                </a:lnTo>
                <a:quadBezTo>
                  <a:pt x="731520" y="0"/>
                  <a:pt x="731520" y="91440"/>
                </a:quadBezTo>
                <a:lnTo>
                  <a:pt x="731520" y="640080"/>
                </a:lnTo>
                <a:quadBezTo>
                  <a:pt x="731520" y="731520"/>
                  <a:pt x="64008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374D8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FDFFC15-9914-7107-61EE-CB8138C70041}"/>
              </a:ext>
            </a:extLst>
          </p:cNvPr>
          <p:cNvSpPr/>
          <p:nvPr/>
        </p:nvSpPr>
        <p:spPr>
          <a:xfrm>
            <a:off x="284775" y="449157"/>
            <a:ext cx="583058" cy="3763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4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2FA7C8B-18EF-D67F-8400-7847950B4105}"/>
              </a:ext>
            </a:extLst>
          </p:cNvPr>
          <p:cNvSpPr/>
          <p:nvPr/>
        </p:nvSpPr>
        <p:spPr>
          <a:xfrm>
            <a:off x="838200" y="449581"/>
            <a:ext cx="6327794" cy="4271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zh-CN" altLang="en-US" sz="1400" b="1" dirty="0">
                <a:solidFill>
                  <a:srgbClr val="374D87"/>
                </a:solidFill>
                <a:latin typeface="Microsoft Yahei" pitchFamily="34" charset="0"/>
                <a:ea typeface="Microsoft Yahei" pitchFamily="34" charset="-122"/>
              </a:rPr>
              <a:t>软件实现与功能</a:t>
            </a:r>
            <a:endParaRPr 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8F3B95-B529-0163-8092-4299773CF946}"/>
              </a:ext>
            </a:extLst>
          </p:cNvPr>
          <p:cNvSpPr txBox="1"/>
          <p:nvPr/>
        </p:nvSpPr>
        <p:spPr>
          <a:xfrm>
            <a:off x="193040" y="1010920"/>
            <a:ext cx="8757920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采用定时器外设配置步进电机运动节奏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GPIO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获取按键状态，激活蜂鸣器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IIC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西协议实现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OLED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模块通信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TCP/IP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协议实现同大模型交互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I2S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协议实现语音数据采集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770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463</Words>
  <Application>Microsoft Office PowerPoint</Application>
  <PresentationFormat>全屏显示(16:9)</PresentationFormat>
  <Paragraphs>74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inherit</vt:lpstr>
      <vt:lpstr>黑体</vt:lpstr>
      <vt:lpstr>宋体</vt:lpstr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Kevin</cp:lastModifiedBy>
  <cp:revision>40</cp:revision>
  <dcterms:created xsi:type="dcterms:W3CDTF">2025-04-19T11:57:38Z</dcterms:created>
  <dcterms:modified xsi:type="dcterms:W3CDTF">2025-04-20T18:30:31Z</dcterms:modified>
</cp:coreProperties>
</file>